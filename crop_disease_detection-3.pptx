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HhKn5CwrkX/t/owlHyVIjlDzf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303520" y="91440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806440" y="91440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309360" y="91440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6812280" y="91440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315200" y="91440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818120" y="91440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303520" y="141732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806440" y="141732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309360" y="141732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6812280" y="141732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7315200" y="141732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7818120" y="141732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5303520" y="192024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5806440" y="192024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6309360" y="192024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6812280" y="192024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315200" y="192024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7818120" y="192024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303520" y="242316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806440" y="242316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6309360" y="242316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6812280" y="242316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315200" y="242316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818120" y="2423160"/>
            <a:ext cx="54864" cy="54864"/>
          </a:xfrm>
          <a:prstGeom prst="ellipse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502920" y="914400"/>
            <a:ext cx="1097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🌿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502920" y="1920240"/>
            <a:ext cx="6858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Crop Disease Detection System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502920" y="288036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Technical Deep Dive &amp; Implementation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274320" y="777240"/>
            <a:ext cx="2606040" cy="2560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274320" y="777240"/>
            <a:ext cx="2606040" cy="411480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65760" y="795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65760" y="126187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React 18 + Vite + Tailwind 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337560" y="777240"/>
            <a:ext cx="2606040" cy="2560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3337560" y="777240"/>
            <a:ext cx="2606040" cy="41148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429000" y="795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429000" y="126187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FastAPI + 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355080" y="777240"/>
            <a:ext cx="2606040" cy="256032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355080" y="777240"/>
            <a:ext cx="2606040" cy="411480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446520" y="795528"/>
            <a:ext cx="2423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Inference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446520" y="1261872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ResNet50 + PyTorch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384048" y="16916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UploadSection.jsx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384048" y="193852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ResultCard.jsx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384048" y="21854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DiseaseHistory.jsx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384048" y="24323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AIAdviceSection.jsx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384048" y="26791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AudioPlayer.jsx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3456432" y="169164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POST /predict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3456432" y="193852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GET /health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3456432" y="21854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File validation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3456432" y="24323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Image decode + transform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3456432" y="26791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JSON response builder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473952" y="169164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ResNet50 weights (DEFAULT)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6473952" y="1938528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transforms() preprocessing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473952" y="2185416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torch.inference_mode()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473952" y="2432304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softmax + argmax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473952" y="2679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▸  heuristic crop mapping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2"/>
          <p:cNvCxnSpPr/>
          <p:nvPr/>
        </p:nvCxnSpPr>
        <p:spPr>
          <a:xfrm>
            <a:off x="2880360" y="20574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8B949E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81" name="Google Shape;81;p2"/>
          <p:cNvCxnSpPr/>
          <p:nvPr/>
        </p:nvCxnSpPr>
        <p:spPr>
          <a:xfrm>
            <a:off x="5907024" y="2057400"/>
            <a:ext cx="457200" cy="0"/>
          </a:xfrm>
          <a:prstGeom prst="straightConnector1">
            <a:avLst/>
          </a:prstGeom>
          <a:noFill/>
          <a:ln cap="flat" cmpd="sng" w="25400">
            <a:solidFill>
              <a:srgbClr val="8B949E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82" name="Google Shape;82;p2"/>
          <p:cNvSpPr/>
          <p:nvPr/>
        </p:nvSpPr>
        <p:spPr>
          <a:xfrm>
            <a:off x="274320" y="3493008"/>
            <a:ext cx="8595360" cy="14173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457200" y="35478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Request / Response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11480" y="3858768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User uploads image</a:t>
            </a: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FormData POST /predict</a:t>
            </a: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0" i="0" lang="en-US" sz="9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Validate → Decode → Transform</a:t>
            </a: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0" i="0" lang="en-US" sz="9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ResNet50 forward pass</a:t>
            </a: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0" i="0" lang="en-US" sz="9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Map + Severity</a:t>
            </a: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→  </a:t>
            </a:r>
            <a:r>
              <a:rPr b="0" i="0" lang="en-US" sz="9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JSON to UI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Frontend UI Walkthrough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-538650" y="2692203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Upload </a:t>
            </a:r>
            <a:r>
              <a:rPr i="1" lang="en-US" sz="950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UI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227370" y="2269198"/>
            <a:ext cx="18288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Prediction Result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-538645" y="446267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TTS 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4176190" y="4270253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AI Advice Section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Replace dashed boxes with actual UI screenshots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3" title="Screenshot 2026-04-13 at 2.46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2" y="749800"/>
            <a:ext cx="3141375" cy="19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 title="Screenshot 2026-04-13 at 2.49.4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700" y="749800"/>
            <a:ext cx="3141375" cy="19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 title="Screenshot 2026-04-13 at 2.50.3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0700" y="3024093"/>
            <a:ext cx="3037726" cy="116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 title="Screenshot 2026-04-13 at 2.52.1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600" y="2984700"/>
            <a:ext cx="3141374" cy="14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Frontend → Backend Data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228600" y="713232"/>
            <a:ext cx="4663440" cy="27432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342910" y="1005840"/>
            <a:ext cx="44349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// api.js helper</a:t>
            </a:r>
            <a:b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export const predictDisease = async (file) =&gt; {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const formData = new FormData();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formData.append('file', file);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const response = await fetch('/predict', {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method: 'POST',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body: formData   // browser sets boundary</a:t>
            </a:r>
            <a:br>
              <a:rPr b="0" i="0" lang="en-US" sz="85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});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return parseResponse(response);</a:t>
            </a:r>
            <a:b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265125" y="77714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api.js  —  fetch-based, no axios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120640" y="713232"/>
            <a:ext cx="3749040" cy="123444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257800" y="7589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Request Payload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257800" y="1051560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Content-Type: multipart/form-data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257800" y="1252728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Field name: file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257800" y="1453896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Body: binary image 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257800" y="1655064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Boundary: set automatically by browser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120640" y="2057400"/>
            <a:ext cx="3749040" cy="14173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257800" y="21031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Response JSON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257800" y="2377440"/>
            <a:ext cx="34747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"disease":    "Tomato_Early_blight",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"confidence":  0.8923,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"severity":   "Moderate",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"crop":       "Tomato"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28600" y="3566160"/>
            <a:ext cx="8641080" cy="13716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362102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Severity Logic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365760" y="3931920"/>
            <a:ext cx="2606040" cy="77724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57200" y="397764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Severe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57200" y="42793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confidence ≥ 0.85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18688" y="3931920"/>
            <a:ext cx="2606040" cy="77724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310128" y="397764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310128" y="42793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0.60 ≤ confidence &lt; 0.85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071616" y="3931920"/>
            <a:ext cx="2606040" cy="77724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163056" y="3977640"/>
            <a:ext cx="24231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Mild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163056" y="4279392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confidence &lt; 0.60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Backend — FastAPI /predict Endpoint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28600" y="713232"/>
            <a:ext cx="5029200" cy="36576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289022" y="896090"/>
            <a:ext cx="4800600" cy="3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@app.post("/predict")</a:t>
            </a:r>
            <a:br>
              <a:rPr b="0" i="0" lang="en-US" sz="8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async def predict(file: UploadFile = File(...)):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not file.content_type.startswith("image/"):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F78166"/>
                </a:solidFill>
                <a:latin typeface="Consolas"/>
                <a:ea typeface="Consolas"/>
                <a:cs typeface="Consolas"/>
                <a:sym typeface="Consolas"/>
              </a:rPr>
              <a:t>        raise HTTPException(400, ...)</a:t>
            </a:r>
            <a:br>
              <a:rPr b="0" i="0" lang="en-US" sz="800" u="none" cap="none" strike="noStrike">
                <a:solidFill>
                  <a:srgbClr val="F78166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F781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payload = await file.read()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image = Image.open(BytesIO(payload)).convert("RGB")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input_tensor = TRANSFORM(image).unsqueeze(0).to(DEVICE)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    with torch.inference_mode():</a:t>
            </a:r>
            <a:b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        logits = MODEL(input_tensor)</a:t>
            </a:r>
            <a:b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        probs = torch.softmax(logits, dim=1)</a:t>
            </a:r>
            <a:b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        confidence, pred_idx = torch.max(probs, dim=1)</a:t>
            </a:r>
            <a:b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crop, disease = map_prediction_to_domain(label)</a:t>
            </a:r>
            <a:b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{ "disease": disease, "confidence": ..., ... }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57825" y="713217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app_backend.py — /predict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40680" y="713232"/>
            <a:ext cx="3474720" cy="12344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532130" y="71321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Model Loading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532121" y="905240"/>
            <a:ext cx="32919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WEIGHTS = ResNet50_Weights.DEFAULT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TRANSFORM = WEIGHTS.transforms()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MODEL = models.resnet50(weights=WEIGHTS)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.to(DEVICE).eval()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CATEGORIES = WEIGHTS.meta["categories"]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440680" y="2084832"/>
            <a:ext cx="3474720" cy="123444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502905" y="2050517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Inference Block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5532121" y="2299703"/>
            <a:ext cx="32919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with torch.inference_mode():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logits = MODEL(input_tensor)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probs = torch.softmax(logits, dim=1)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conf, idx = torch.max(probs, dim=1)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Data Preprocessing Pipeline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28600" y="777240"/>
            <a:ext cx="2743200" cy="1143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320040" y="868680"/>
            <a:ext cx="365760" cy="365760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20040" y="868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77240" y="8869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Load Image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20040" y="123444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PIL.Image.open() → .convert('RGB')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3154680" y="777240"/>
            <a:ext cx="2743200" cy="1143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3246120" y="868680"/>
            <a:ext cx="365760" cy="365760"/>
          </a:xfrm>
          <a:prstGeom prst="ellipse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3246120" y="868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703320" y="8869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Resize/Crop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246120" y="123444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ResNet50 default transforms: 256 → 224×224 center crop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080760" y="777240"/>
            <a:ext cx="2743200" cy="1143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6172200" y="868680"/>
            <a:ext cx="365760" cy="365760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172200" y="868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629400" y="88696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To Tensor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172200" y="123444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PIL → FloatTensor [C, H, W]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228600" y="2103120"/>
            <a:ext cx="2743200" cy="1143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320040" y="2194560"/>
            <a:ext cx="365760" cy="365760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32004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777240" y="2212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320040" y="256032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ImageNet μ=[0.485,0.456,0.406] σ=[0.229,0.224,0.225]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154680" y="2103120"/>
            <a:ext cx="2743200" cy="1143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246120" y="2194560"/>
            <a:ext cx="365760" cy="365760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24612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703320" y="2212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Unsqueeze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246120" y="256032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.unsqueeze(0) → [1, 3, 224, 224] batch dim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6080760" y="2103120"/>
            <a:ext cx="2743200" cy="11430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6172200" y="2194560"/>
            <a:ext cx="365760" cy="365760"/>
          </a:xfrm>
          <a:prstGeom prst="ellipse">
            <a:avLst/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172200" y="2194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6629400" y="221284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To Device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172200" y="2560320"/>
            <a:ext cx="2560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.to(DEVICE) → mps / cuda / cpu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228600" y="3474720"/>
            <a:ext cx="5029200" cy="822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47472" y="3538728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WEIGHTS = ResNet50_Weights.DEFAULT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TRANSFORM = WEIGHTS.transforms()   # wraps all above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Dataset Statistics &amp; Morphology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28600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228600" y="749808"/>
            <a:ext cx="201168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228600" y="89611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92,104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228600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Total Images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441448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2441448" y="749808"/>
            <a:ext cx="2011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2441448" y="89611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441448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654296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4654296" y="749808"/>
            <a:ext cx="201168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654296" y="89611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64,465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654296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Train Samples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867144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6867144" y="749808"/>
            <a:ext cx="2011680" cy="54864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867144" y="896112"/>
            <a:ext cx="2011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27,639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867144" y="14173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Test Samples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228600" y="2663190"/>
            <a:ext cx="5120640" cy="91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20040" y="3575304"/>
            <a:ext cx="4937760" cy="91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Class distribution bar chart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(X: disease class, Y: image count)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577840" y="2663190"/>
            <a:ext cx="3337560" cy="91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📷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669280" y="3575304"/>
            <a:ext cx="3154680" cy="9121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pie or bar chart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228600" y="4773168"/>
            <a:ext cx="8641080" cy="20116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365760" y="4791456"/>
            <a:ext cx="8321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Corrupted: </a:t>
            </a: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0   </a:t>
            </a:r>
            <a:r>
              <a:rPr b="1" i="0" lang="en-US" sz="85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Duplicate groups: </a:t>
            </a: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19   </a:t>
            </a:r>
            <a:r>
              <a:rPr b="1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Balancing: </a:t>
            </a: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None (PoC)   </a:t>
            </a:r>
            <a:r>
              <a:rPr b="1" i="0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Format: </a:t>
            </a: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RGB → Normalized tensor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7" title="split_class_matrix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0" y="1938525"/>
            <a:ext cx="3392426" cy="260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7" title="ChatGPT Image Apr 13, 2026 at 02_59_5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" y="2025150"/>
            <a:ext cx="4760275" cy="24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Model Architecture Deep Dive — ResNet50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182880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182880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224×224×3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8"/>
          <p:cNvCxnSpPr/>
          <p:nvPr/>
        </p:nvCxnSpPr>
        <p:spPr>
          <a:xfrm>
            <a:off x="1152144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5" name="Google Shape;245;p8"/>
          <p:cNvSpPr/>
          <p:nvPr/>
        </p:nvSpPr>
        <p:spPr>
          <a:xfrm>
            <a:off x="1207008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1207008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conv1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bn1, relu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maxpool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8"/>
          <p:cNvCxnSpPr/>
          <p:nvPr/>
        </p:nvCxnSpPr>
        <p:spPr>
          <a:xfrm>
            <a:off x="2176272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48" name="Google Shape;248;p8"/>
          <p:cNvSpPr/>
          <p:nvPr/>
        </p:nvSpPr>
        <p:spPr>
          <a:xfrm>
            <a:off x="2231136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2231136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layer1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(3 blocks)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>
            <a:off x="3200400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1" name="Google Shape;251;p8"/>
          <p:cNvSpPr/>
          <p:nvPr/>
        </p:nvSpPr>
        <p:spPr>
          <a:xfrm>
            <a:off x="3255264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255264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layer2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(4 blocks)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8"/>
          <p:cNvCxnSpPr/>
          <p:nvPr/>
        </p:nvCxnSpPr>
        <p:spPr>
          <a:xfrm>
            <a:off x="4224528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4" name="Google Shape;254;p8"/>
          <p:cNvSpPr/>
          <p:nvPr/>
        </p:nvSpPr>
        <p:spPr>
          <a:xfrm>
            <a:off x="4279392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4279392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layer3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(6 blocks)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8"/>
          <p:cNvCxnSpPr/>
          <p:nvPr/>
        </p:nvCxnSpPr>
        <p:spPr>
          <a:xfrm>
            <a:off x="5248656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57" name="Google Shape;257;p8"/>
          <p:cNvSpPr/>
          <p:nvPr/>
        </p:nvSpPr>
        <p:spPr>
          <a:xfrm>
            <a:off x="5303520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5303520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layer4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(3 blocks)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8"/>
          <p:cNvCxnSpPr/>
          <p:nvPr/>
        </p:nvCxnSpPr>
        <p:spPr>
          <a:xfrm>
            <a:off x="6272784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0" name="Google Shape;260;p8"/>
          <p:cNvSpPr/>
          <p:nvPr/>
        </p:nvSpPr>
        <p:spPr>
          <a:xfrm>
            <a:off x="6327648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6327648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avgpool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fc(1000)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7296912" y="1188720"/>
            <a:ext cx="54864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3" name="Google Shape;263;p8"/>
          <p:cNvSpPr/>
          <p:nvPr/>
        </p:nvSpPr>
        <p:spPr>
          <a:xfrm>
            <a:off x="7351776" y="749808"/>
            <a:ext cx="969264" cy="914400"/>
          </a:xfrm>
          <a:prstGeom prst="rect">
            <a:avLst/>
          </a:prstGeom>
          <a:solidFill>
            <a:srgbClr val="21262D"/>
          </a:solidFill>
          <a:ln cap="flat" cmpd="sng" w="1905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7351776" y="777240"/>
            <a:ext cx="969264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3B341"/>
                </a:solidFill>
                <a:latin typeface="Consolas"/>
                <a:ea typeface="Consolas"/>
                <a:cs typeface="Consolas"/>
                <a:sym typeface="Consolas"/>
              </a:rPr>
              <a:t>softmax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3B341"/>
                </a:solidFill>
                <a:latin typeface="Consolas"/>
                <a:ea typeface="Consolas"/>
                <a:cs typeface="Consolas"/>
                <a:sym typeface="Consolas"/>
              </a:rPr>
              <a:t>top-1 class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82880" y="1847088"/>
            <a:ext cx="5303520" cy="301752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210317" y="1819654"/>
            <a:ext cx="5303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Heuristic Mapping — ImageNet label → crop/disease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74283" y="2092353"/>
            <a:ext cx="51207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def map_prediction_to_domain(label: str):</a:t>
            </a:r>
            <a:br>
              <a:rPr b="0" i="0" lang="en-US" sz="8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lower = label.lower()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"apple" in lower: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  if "scab" in lower: return "Apple", "Apple_scab"</a:t>
            </a:r>
            <a:b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  if "rot"  in lower: return "Apple", "Apple_Black_rot"</a:t>
            </a:r>
            <a:b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  return "Apple", "Apple_Healthy"</a:t>
            </a:r>
            <a:b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8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"tomato" in lower: return "Tomato", "Tomato_Early_blight"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"potato" in lower: return "Potato", "Potato_Early_blight"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"corn"   in lower: return "Corn",   "Corn_Common_rust"</a:t>
            </a:r>
            <a:br>
              <a:rPr b="0" i="0" lang="en-US" sz="8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800" u="none" cap="none" strike="noStrike">
                <a:solidFill>
                  <a:srgbClr val="F78166"/>
                </a:solidFill>
                <a:latin typeface="Consolas"/>
                <a:ea typeface="Consolas"/>
                <a:cs typeface="Consolas"/>
                <a:sym typeface="Consolas"/>
              </a:rPr>
              <a:t>    return "Unknown", "Unknown_Disease"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5669280" y="1847088"/>
            <a:ext cx="3246120" cy="12801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5669180" y="1856229"/>
            <a:ext cx="3200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severity_from_confidence(c)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701277" y="2102965"/>
            <a:ext cx="301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 &gt;= 0.85  →  "Severe"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 &gt;= 0.60  →  "Moderate"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 &lt;  0.60  →  "Mild"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701280" y="2948933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⚠  Confidence is uncalibrated for domain tasks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5669280" y="3246120"/>
            <a:ext cx="3246120" cy="1618488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5806440" y="331012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Supported Crops (mapped)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806440" y="3611880"/>
            <a:ext cx="30175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9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Ragi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5806440" y="3813048"/>
            <a:ext cx="30175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9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Paddy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5806440" y="4014216"/>
            <a:ext cx="30175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9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Maize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806440" y="4215384"/>
            <a:ext cx="30175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9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Jowar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5806440" y="4416552"/>
            <a:ext cx="30175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9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Bajra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5806440" y="4617720"/>
            <a:ext cx="30175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lang="en-US" sz="900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Sugarcane etc.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Base Model Evaluation — Baseline Results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228600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228600" y="749808"/>
            <a:ext cx="2011680" cy="54864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228600" y="8961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3,000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228600" y="13898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Samples Evaluated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2423160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2423160" y="749808"/>
            <a:ext cx="2011680" cy="54864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2423160" y="8961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76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2423160" y="13898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Correct Predictions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4617720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617720" y="749808"/>
            <a:ext cx="2011680" cy="54864"/>
          </a:xfrm>
          <a:prstGeom prst="rect">
            <a:avLst/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4617720" y="8961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2,924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4617720" y="13898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Unknown / Unmapped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812280" y="749808"/>
            <a:ext cx="2011680" cy="10972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6812280" y="749808"/>
            <a:ext cx="2011680" cy="54864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6812280" y="89611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20.53%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6812280" y="138988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Proxy Accuracy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228600" y="1993392"/>
            <a:ext cx="5029200" cy="18288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303650" y="2039127"/>
            <a:ext cx="4572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poc1_baseline_model.py — eval loop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9"/>
          <p:cNvSpPr/>
          <p:nvPr/>
        </p:nvSpPr>
        <p:spPr>
          <a:xfrm>
            <a:off x="303647" y="2363725"/>
            <a:ext cx="4800600" cy="1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with torch.inference_mode():</a:t>
            </a:r>
            <a:br>
              <a:rPr b="0" i="0" lang="en-US" sz="9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 images, targets in loader:</a:t>
            </a:r>
            <a:b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outputs = model(images)</a:t>
            </a:r>
            <a:b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pred_indices = outputs.argmax(dim=1)</a:t>
            </a:r>
            <a:b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    # map ImageNet label → crop → compare with target</a:t>
            </a:r>
            <a:b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label = CATEGORIES[pred_idx]</a:t>
            </a:r>
            <a:br>
              <a:rPr b="0" i="0" lang="en-US" sz="9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00" u="none" cap="none" strike="noStrike">
                <a:solidFill>
                  <a:srgbClr val="58A6FF"/>
                </a:solidFill>
                <a:latin typeface="Consolas"/>
                <a:ea typeface="Consolas"/>
                <a:cs typeface="Consolas"/>
                <a:sym typeface="Consolas"/>
              </a:rPr>
              <a:t>        crop, _ = map_prediction_to_domain(label)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228600" y="3977640"/>
            <a:ext cx="8641080" cy="960120"/>
          </a:xfrm>
          <a:prstGeom prst="rect">
            <a:avLst/>
          </a:prstGeom>
          <a:solidFill>
            <a:srgbClr val="1C1008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365760" y="40233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⚠  Limitations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65760" y="4315968"/>
            <a:ext cx="832104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Metric is crop-level top-1 proxy via ImageNet → crop mapping, NOT class-level accuracy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388622" y="4498853"/>
            <a:ext cx="83211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▸  Domain fine-tuning on curated disease dataset required for production-grade performance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0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Complete Data Pipeline Flow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182880" y="74980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182880" y="749808"/>
            <a:ext cx="1389888" cy="29260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182880" y="74980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237744" y="10881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Raw Image Upload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237744" y="161848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User selects file in browser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0"/>
          <p:cNvCxnSpPr/>
          <p:nvPr/>
        </p:nvCxnSpPr>
        <p:spPr>
          <a:xfrm>
            <a:off x="1572768" y="152704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29" name="Google Shape;329;p10"/>
          <p:cNvSpPr/>
          <p:nvPr/>
        </p:nvSpPr>
        <p:spPr>
          <a:xfrm>
            <a:off x="1664208" y="74980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"/>
          <p:cNvSpPr/>
          <p:nvPr/>
        </p:nvSpPr>
        <p:spPr>
          <a:xfrm>
            <a:off x="1664208" y="749808"/>
            <a:ext cx="1389888" cy="29260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664208" y="74980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1719072" y="10881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Frontend Validation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1719072" y="161848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File type check before POST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0"/>
          <p:cNvCxnSpPr/>
          <p:nvPr/>
        </p:nvCxnSpPr>
        <p:spPr>
          <a:xfrm>
            <a:off x="3054096" y="152704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35" name="Google Shape;335;p10"/>
          <p:cNvSpPr/>
          <p:nvPr/>
        </p:nvSpPr>
        <p:spPr>
          <a:xfrm>
            <a:off x="3145536" y="74980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3145536" y="749808"/>
            <a:ext cx="1389888" cy="2926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3145536" y="74980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3200400" y="10881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POST /predict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200400" y="161848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multipart/form-data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0" name="Google Shape;340;p10"/>
          <p:cNvCxnSpPr/>
          <p:nvPr/>
        </p:nvCxnSpPr>
        <p:spPr>
          <a:xfrm>
            <a:off x="4535424" y="152704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1" name="Google Shape;341;p10"/>
          <p:cNvSpPr/>
          <p:nvPr/>
        </p:nvSpPr>
        <p:spPr>
          <a:xfrm>
            <a:off x="4626864" y="74980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4626864" y="749808"/>
            <a:ext cx="1389888" cy="2926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626864" y="74980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681728" y="10881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Backend Validation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4681728" y="161848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content_type + empty payload check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6" name="Google Shape;346;p10"/>
          <p:cNvCxnSpPr/>
          <p:nvPr/>
        </p:nvCxnSpPr>
        <p:spPr>
          <a:xfrm>
            <a:off x="6016752" y="152704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7" name="Google Shape;347;p10"/>
          <p:cNvSpPr/>
          <p:nvPr/>
        </p:nvSpPr>
        <p:spPr>
          <a:xfrm>
            <a:off x="6108192" y="74980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6108192" y="749808"/>
            <a:ext cx="1389888" cy="29260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6108192" y="74980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163056" y="10881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Decode + Transform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163056" y="161848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PIL.Image → TRANSFORM tensor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10"/>
          <p:cNvCxnSpPr/>
          <p:nvPr/>
        </p:nvCxnSpPr>
        <p:spPr>
          <a:xfrm>
            <a:off x="7498080" y="152704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3" name="Google Shape;353;p10"/>
          <p:cNvSpPr/>
          <p:nvPr/>
        </p:nvSpPr>
        <p:spPr>
          <a:xfrm>
            <a:off x="7589520" y="74980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7589520" y="749808"/>
            <a:ext cx="1389888" cy="29260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7589520" y="74980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7644384" y="108813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ResNet50 Inference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7644384" y="161848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torch.inference_mode()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82880" y="276148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182880" y="2761488"/>
            <a:ext cx="1389888" cy="292608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182880" y="2761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237744" y="309981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Softmax + Confidence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237744" y="363016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probs → max confidence + pred_idx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>
            <a:off x="1572768" y="353872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64" name="Google Shape;364;p10"/>
          <p:cNvSpPr/>
          <p:nvPr/>
        </p:nvSpPr>
        <p:spPr>
          <a:xfrm>
            <a:off x="1664208" y="276148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1664208" y="2761488"/>
            <a:ext cx="1389888" cy="292608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1664208" y="2761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1719072" y="309981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Heuristic Mapping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1719072" y="363016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ImageNet label → crop + disease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10"/>
          <p:cNvCxnSpPr/>
          <p:nvPr/>
        </p:nvCxnSpPr>
        <p:spPr>
          <a:xfrm>
            <a:off x="3054096" y="353872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0" name="Google Shape;370;p10"/>
          <p:cNvSpPr/>
          <p:nvPr/>
        </p:nvSpPr>
        <p:spPr>
          <a:xfrm>
            <a:off x="3145536" y="276148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3145536" y="2761488"/>
            <a:ext cx="1389888" cy="292608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0"/>
          <p:cNvSpPr/>
          <p:nvPr/>
        </p:nvSpPr>
        <p:spPr>
          <a:xfrm>
            <a:off x="3145536" y="2761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200400" y="309981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Severity Calculation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3200400" y="363016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confidence threshold bucketing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5" name="Google Shape;375;p10"/>
          <p:cNvCxnSpPr/>
          <p:nvPr/>
        </p:nvCxnSpPr>
        <p:spPr>
          <a:xfrm>
            <a:off x="4535424" y="353872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76" name="Google Shape;376;p10"/>
          <p:cNvSpPr/>
          <p:nvPr/>
        </p:nvSpPr>
        <p:spPr>
          <a:xfrm>
            <a:off x="4626864" y="276148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4626864" y="2761488"/>
            <a:ext cx="1389888" cy="292608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4626864" y="2761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4681728" y="309981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JSON Response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681728" y="363016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disease, confidence, severity, crop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1" name="Google Shape;381;p10"/>
          <p:cNvCxnSpPr/>
          <p:nvPr/>
        </p:nvCxnSpPr>
        <p:spPr>
          <a:xfrm>
            <a:off x="6016752" y="3538728"/>
            <a:ext cx="91440" cy="0"/>
          </a:xfrm>
          <a:prstGeom prst="straightConnector1">
            <a:avLst/>
          </a:prstGeom>
          <a:noFill/>
          <a:ln cap="flat" cmpd="sng" w="12700">
            <a:solidFill>
              <a:srgbClr val="8B949E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82" name="Google Shape;382;p10"/>
          <p:cNvSpPr/>
          <p:nvPr/>
        </p:nvSpPr>
        <p:spPr>
          <a:xfrm>
            <a:off x="6108192" y="2761488"/>
            <a:ext cx="1389888" cy="1554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6108192" y="2761488"/>
            <a:ext cx="1389888" cy="292608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6108192" y="2761488"/>
            <a:ext cx="1389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6163056" y="3099816"/>
            <a:ext cx="1280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Frontend Renders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6163056" y="3630168"/>
            <a:ext cx="1280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ResultCard + HistoryGraph + AIAdvice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182880" y="4892040"/>
            <a:ext cx="8732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Flow confirmed accurate for current PoC implementation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1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Project File Structure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228600" y="713232"/>
            <a:ext cx="4663440" cy="425196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347472" y="777240"/>
            <a:ext cx="443484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crop_disease_detetction/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src/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components/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ResultCard.jsx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UploadSection.jsx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ResultsSection.jsx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AIAdviceSection.jsx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DiseaseHistory.jsx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AudioPlayer.jsx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├── Header.jsx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│   └── ResponsiveLayout.jsx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hooks/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utils/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└── App.jsx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poc_api/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└── app_backend.py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poc/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poc1_baseline_model.py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└── poc1_results.txt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data/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├── raw/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│   └── karnataka_curated/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validate_karnataka_datasets.py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download_datasets.py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requirements.txt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├── package.json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└── README.md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5074920" y="1143000"/>
            <a:ext cx="3794760" cy="347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1" name="Google Shape;401;p11"/>
          <p:cNvCxnSpPr/>
          <p:nvPr/>
        </p:nvCxnSpPr>
        <p:spPr>
          <a:xfrm>
            <a:off x="4892040" y="131673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1"/>
          <p:cNvSpPr/>
          <p:nvPr/>
        </p:nvSpPr>
        <p:spPr>
          <a:xfrm>
            <a:off x="4873752" y="1280160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5193792" y="123444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React Components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5074920" y="2514600"/>
            <a:ext cx="3794760" cy="347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5" name="Google Shape;405;p11"/>
          <p:cNvCxnSpPr/>
          <p:nvPr/>
        </p:nvCxnSpPr>
        <p:spPr>
          <a:xfrm>
            <a:off x="4892040" y="268833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11"/>
          <p:cNvSpPr/>
          <p:nvPr/>
        </p:nvSpPr>
        <p:spPr>
          <a:xfrm>
            <a:off x="4873752" y="2651760"/>
            <a:ext cx="73152" cy="73152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1"/>
          <p:cNvSpPr/>
          <p:nvPr/>
        </p:nvSpPr>
        <p:spPr>
          <a:xfrm>
            <a:off x="5193792" y="260604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API Utilities &amp; Hooks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5074920" y="2880360"/>
            <a:ext cx="3794760" cy="347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9" name="Google Shape;409;p11"/>
          <p:cNvCxnSpPr/>
          <p:nvPr/>
        </p:nvCxnSpPr>
        <p:spPr>
          <a:xfrm>
            <a:off x="4892040" y="305409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11"/>
          <p:cNvSpPr/>
          <p:nvPr/>
        </p:nvSpPr>
        <p:spPr>
          <a:xfrm>
            <a:off x="4873752" y="3017520"/>
            <a:ext cx="73152" cy="73152"/>
          </a:xfrm>
          <a:prstGeom prst="ellipse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5193792" y="297180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FastAPI Backend (PoC)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074920" y="3246120"/>
            <a:ext cx="3794760" cy="347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3" name="Google Shape;413;p11"/>
          <p:cNvCxnSpPr/>
          <p:nvPr/>
        </p:nvCxnSpPr>
        <p:spPr>
          <a:xfrm>
            <a:off x="4892040" y="341985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4" name="Google Shape;414;p11"/>
          <p:cNvSpPr/>
          <p:nvPr/>
        </p:nvSpPr>
        <p:spPr>
          <a:xfrm>
            <a:off x="4873752" y="3383280"/>
            <a:ext cx="73152" cy="73152"/>
          </a:xfrm>
          <a:prstGeom prst="ellipse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1"/>
          <p:cNvSpPr/>
          <p:nvPr/>
        </p:nvSpPr>
        <p:spPr>
          <a:xfrm>
            <a:off x="5193792" y="333756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Evaluation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074920" y="3611880"/>
            <a:ext cx="3794760" cy="347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11"/>
          <p:cNvCxnSpPr/>
          <p:nvPr/>
        </p:nvCxnSpPr>
        <p:spPr>
          <a:xfrm>
            <a:off x="4892040" y="378561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1"/>
          <p:cNvSpPr/>
          <p:nvPr/>
        </p:nvSpPr>
        <p:spPr>
          <a:xfrm>
            <a:off x="4873752" y="3749040"/>
            <a:ext cx="73152" cy="73152"/>
          </a:xfrm>
          <a:prstGeom prst="ellipse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5193792" y="370332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Dataset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5074920" y="3977640"/>
            <a:ext cx="3794760" cy="347472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1" name="Google Shape;421;p11"/>
          <p:cNvCxnSpPr/>
          <p:nvPr/>
        </p:nvCxnSpPr>
        <p:spPr>
          <a:xfrm>
            <a:off x="4892040" y="4151376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1"/>
          <p:cNvSpPr/>
          <p:nvPr/>
        </p:nvSpPr>
        <p:spPr>
          <a:xfrm>
            <a:off x="4873752" y="4114800"/>
            <a:ext cx="73152" cy="73152"/>
          </a:xfrm>
          <a:prstGeom prst="ellipse">
            <a:avLst/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5193792" y="406908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Data Pipeline Scripts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Environment Setup &amp; Dependencies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228600" y="749808"/>
            <a:ext cx="4206240" cy="39319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2"/>
          <p:cNvSpPr/>
          <p:nvPr/>
        </p:nvSpPr>
        <p:spPr>
          <a:xfrm>
            <a:off x="228600" y="749808"/>
            <a:ext cx="4206240" cy="347472"/>
          </a:xfrm>
          <a:prstGeom prst="rect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2"/>
          <p:cNvSpPr/>
          <p:nvPr/>
        </p:nvSpPr>
        <p:spPr>
          <a:xfrm>
            <a:off x="320040" y="768096"/>
            <a:ext cx="40233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Frontend  (package.json)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365760" y="12161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react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2606040" y="1216152"/>
            <a:ext cx="169164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2"/>
          <p:cNvSpPr/>
          <p:nvPr/>
        </p:nvSpPr>
        <p:spPr>
          <a:xfrm>
            <a:off x="2651760" y="1234440"/>
            <a:ext cx="1645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18.3.1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365760" y="16733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react-dom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2606040" y="1673352"/>
            <a:ext cx="169164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2"/>
          <p:cNvSpPr/>
          <p:nvPr/>
        </p:nvSpPr>
        <p:spPr>
          <a:xfrm>
            <a:off x="2651760" y="1691640"/>
            <a:ext cx="1645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18.3.1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365760" y="21305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recharts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2606040" y="2130552"/>
            <a:ext cx="169164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2651760" y="2148840"/>
            <a:ext cx="1645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2.13.3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365760" y="25877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tailwindcss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2606040" y="2587752"/>
            <a:ext cx="169164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/>
          <p:nvPr/>
        </p:nvSpPr>
        <p:spPr>
          <a:xfrm>
            <a:off x="2651760" y="2606040"/>
            <a:ext cx="1645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3.4.17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365760" y="30449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vite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606040" y="3044952"/>
            <a:ext cx="169164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2"/>
          <p:cNvSpPr/>
          <p:nvPr/>
        </p:nvSpPr>
        <p:spPr>
          <a:xfrm>
            <a:off x="2651760" y="3063240"/>
            <a:ext cx="1645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5.4.14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365760" y="35021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B341"/>
                </a:solidFill>
                <a:latin typeface="Consolas"/>
                <a:ea typeface="Consolas"/>
                <a:cs typeface="Consolas"/>
                <a:sym typeface="Consolas"/>
              </a:rPr>
              <a:t>Node (runtime)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606040" y="3502152"/>
            <a:ext cx="169164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2"/>
          <p:cNvSpPr/>
          <p:nvPr/>
        </p:nvSpPr>
        <p:spPr>
          <a:xfrm>
            <a:off x="2651760" y="3520440"/>
            <a:ext cx="164592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3B341"/>
                </a:solidFill>
                <a:latin typeface="Consolas"/>
                <a:ea typeface="Consolas"/>
                <a:cs typeface="Consolas"/>
                <a:sym typeface="Consolas"/>
              </a:rPr>
              <a:t>[confirm from system]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365760" y="4206240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Note: axios is NOT used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663440" y="749808"/>
            <a:ext cx="4251960" cy="393192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2"/>
          <p:cNvSpPr/>
          <p:nvPr/>
        </p:nvSpPr>
        <p:spPr>
          <a:xfrm>
            <a:off x="4663440" y="749808"/>
            <a:ext cx="4251960" cy="34747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"/>
          <p:cNvSpPr/>
          <p:nvPr/>
        </p:nvSpPr>
        <p:spPr>
          <a:xfrm>
            <a:off x="4754880" y="768096"/>
            <a:ext cx="4069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Backend  (requirements.txt)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800600" y="12161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torch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7223760" y="1216152"/>
            <a:ext cx="155448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2"/>
          <p:cNvSpPr/>
          <p:nvPr/>
        </p:nvSpPr>
        <p:spPr>
          <a:xfrm>
            <a:off x="7269480" y="1234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2.11.0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4800600" y="16733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BC8CFF"/>
                </a:solidFill>
                <a:latin typeface="Consolas"/>
                <a:ea typeface="Consolas"/>
                <a:cs typeface="Consolas"/>
                <a:sym typeface="Consolas"/>
              </a:rPr>
              <a:t>torchvision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7223760" y="1673352"/>
            <a:ext cx="155448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2"/>
          <p:cNvSpPr/>
          <p:nvPr/>
        </p:nvSpPr>
        <p:spPr>
          <a:xfrm>
            <a:off x="7269480" y="16916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0.26.0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4800600" y="21305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fastapi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7223760" y="2130552"/>
            <a:ext cx="155448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2"/>
          <p:cNvSpPr/>
          <p:nvPr/>
        </p:nvSpPr>
        <p:spPr>
          <a:xfrm>
            <a:off x="7269480" y="21488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≥ 0.135.3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800600" y="25877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nsolas"/>
                <a:ea typeface="Consolas"/>
                <a:cs typeface="Consolas"/>
                <a:sym typeface="Consolas"/>
              </a:rPr>
              <a:t>uvicorn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7223760" y="2587752"/>
            <a:ext cx="155448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7269480" y="26060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≥ 0.44.0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4800600" y="30449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python-multipart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7223760" y="3044952"/>
            <a:ext cx="155448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2"/>
          <p:cNvSpPr/>
          <p:nvPr/>
        </p:nvSpPr>
        <p:spPr>
          <a:xfrm>
            <a:off x="7269480" y="30632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≥ 0.0.24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4800600" y="350215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3B341"/>
                </a:solidFill>
                <a:latin typeface="Consolas"/>
                <a:ea typeface="Consolas"/>
                <a:cs typeface="Consolas"/>
                <a:sym typeface="Consolas"/>
              </a:rPr>
              <a:t>Python (runtime)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7223760" y="3502152"/>
            <a:ext cx="1554480" cy="3200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7269480" y="3520440"/>
            <a:ext cx="1463040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E3B341"/>
                </a:solidFill>
                <a:latin typeface="Consolas"/>
                <a:ea typeface="Consolas"/>
                <a:cs typeface="Consolas"/>
                <a:sym typeface="Consolas"/>
              </a:rPr>
              <a:t>[confirm from system]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4800600" y="420624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Also: Pillow, scipy, scikit-learn, pandas, numpy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3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161B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3"/>
          <p:cNvSpPr/>
          <p:nvPr/>
        </p:nvSpPr>
        <p:spPr>
          <a:xfrm>
            <a:off x="228600" y="73152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6F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rPr>
              <a:t>Known Issues &amp; Limitations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228600" y="82296"/>
            <a:ext cx="8686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Slide 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228600" y="749808"/>
            <a:ext cx="2011680" cy="4206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"/>
          <p:cNvSpPr/>
          <p:nvPr/>
        </p:nvSpPr>
        <p:spPr>
          <a:xfrm>
            <a:off x="228600" y="749808"/>
            <a:ext cx="2011680" cy="347472"/>
          </a:xfrm>
          <a:prstGeom prst="rect">
            <a:avLst/>
          </a:prstGeom>
          <a:solidFill>
            <a:srgbClr val="F78166"/>
          </a:solidFill>
          <a:ln cap="flat" cmpd="sng" w="12700">
            <a:solidFill>
              <a:srgbClr val="F78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3"/>
          <p:cNvSpPr/>
          <p:nvPr/>
        </p:nvSpPr>
        <p:spPr>
          <a:xfrm>
            <a:off x="301752" y="77724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Technical Debt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320040" y="117043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Heuristic label mapping — no domain fine-tuning on curated disease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320040" y="219456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PoC backend: only /health and /predict endpoints active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320040" y="3218688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816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78166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Frontend flows may need additional endpoints in full deployment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2423160" y="749808"/>
            <a:ext cx="2011680" cy="4206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"/>
          <p:cNvSpPr/>
          <p:nvPr/>
        </p:nvSpPr>
        <p:spPr>
          <a:xfrm>
            <a:off x="2423160" y="749808"/>
            <a:ext cx="2011680" cy="347472"/>
          </a:xfrm>
          <a:prstGeom prst="rect">
            <a:avLst/>
          </a:prstGeom>
          <a:solidFill>
            <a:srgbClr val="E3B341"/>
          </a:solidFill>
          <a:ln cap="flat" cmpd="sng" w="12700">
            <a:solidFill>
              <a:srgbClr val="E3B3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3"/>
          <p:cNvSpPr/>
          <p:nvPr/>
        </p:nvSpPr>
        <p:spPr>
          <a:xfrm>
            <a:off x="2496312" y="77724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Performance Bottlenecks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2514600" y="117043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Inference + API latency not yet benchmarked — measure preprocess / model / total separately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2514600" y="219456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No request batching — single-image inference per call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2514600" y="3218688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B34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3B341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mps backend (Apple Silicon) may behave differently from CUDA in 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4617720" y="749808"/>
            <a:ext cx="2011680" cy="4206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3"/>
          <p:cNvSpPr/>
          <p:nvPr/>
        </p:nvSpPr>
        <p:spPr>
          <a:xfrm>
            <a:off x="4617720" y="749808"/>
            <a:ext cx="2011680" cy="347472"/>
          </a:xfrm>
          <a:prstGeom prst="rect">
            <a:avLst/>
          </a:prstGeom>
          <a:solidFill>
            <a:srgbClr val="BC8CFF"/>
          </a:solidFill>
          <a:ln cap="flat" cmpd="sng" w="12700">
            <a:solidFill>
              <a:srgbClr val="BC8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3"/>
          <p:cNvSpPr/>
          <p:nvPr/>
        </p:nvSpPr>
        <p:spPr>
          <a:xfrm>
            <a:off x="4690872" y="77724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Accuracy Concerns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4709160" y="117043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2.53% proxy accuracy — label space mismatch between ImageNet and plant disease classes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4709160" y="219456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Confidence values are NOT calibrated probabilities for domain diseases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709160" y="3218688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Domain-specific fine-tuning and label alignment required for production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6812280" y="749808"/>
            <a:ext cx="2011680" cy="420624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"/>
          <p:cNvSpPr/>
          <p:nvPr/>
        </p:nvSpPr>
        <p:spPr>
          <a:xfrm>
            <a:off x="6812280" y="749808"/>
            <a:ext cx="2011680" cy="347472"/>
          </a:xfrm>
          <a:prstGeom prst="rect">
            <a:avLst/>
          </a:prstGeom>
          <a:solidFill>
            <a:srgbClr val="3FB950"/>
          </a:solidFill>
          <a:ln cap="flat" cmpd="sng" w="12700">
            <a:solidFill>
              <a:srgbClr val="3FB9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6885432" y="777240"/>
            <a:ext cx="1874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11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Next Steps Required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6903720" y="1170432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Fine-tune ResNet50 (or EfficientNet) on PlantVillage / karnataka_curated dataset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6903720" y="2194560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Replace heuristic mapping with direct model output per disease class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6903720" y="3218688"/>
            <a:ext cx="1828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900" u="none" cap="none" strike="noStrike">
                <a:solidFill>
                  <a:srgbClr val="E6EDF3"/>
                </a:solidFill>
                <a:latin typeface="Calibri"/>
                <a:ea typeface="Calibri"/>
                <a:cs typeface="Calibri"/>
                <a:sym typeface="Calibri"/>
              </a:rPr>
              <a:t>Add confusion matrix generation, per-class F1, and calibration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5"/>
          <p:cNvSpPr/>
          <p:nvPr/>
        </p:nvSpPr>
        <p:spPr>
          <a:xfrm>
            <a:off x="0" y="0"/>
            <a:ext cx="54900" cy="51435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0" y="0"/>
            <a:ext cx="9144000" cy="5943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0" name="Google Shape;520;p15"/>
          <p:cNvGrpSpPr/>
          <p:nvPr/>
        </p:nvGrpSpPr>
        <p:grpSpPr>
          <a:xfrm>
            <a:off x="228600" y="73152"/>
            <a:ext cx="8686800" cy="484644"/>
            <a:chOff x="228600" y="73152"/>
            <a:chExt cx="8686800" cy="484644"/>
          </a:xfrm>
        </p:grpSpPr>
        <p:sp>
          <p:nvSpPr>
            <p:cNvPr id="521" name="Google Shape;521;p15"/>
            <p:cNvSpPr txBox="1"/>
            <p:nvPr/>
          </p:nvSpPr>
          <p:spPr>
            <a:xfrm>
              <a:off x="228600" y="73152"/>
              <a:ext cx="73152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0F6FC"/>
                  </a:solidFill>
                  <a:latin typeface="Calibri"/>
                  <a:ea typeface="Calibri"/>
                  <a:cs typeface="Calibri"/>
                  <a:sym typeface="Calibri"/>
                </a:rPr>
                <a:t>Closing Discussion</a:t>
              </a:r>
              <a:endParaRPr b="1" sz="22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5"/>
            <p:cNvSpPr txBox="1"/>
            <p:nvPr/>
          </p:nvSpPr>
          <p:spPr>
            <a:xfrm>
              <a:off x="228600" y="82296"/>
              <a:ext cx="8686800" cy="47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8B949E"/>
                  </a:solidFill>
                  <a:latin typeface="Calibri"/>
                  <a:ea typeface="Calibri"/>
                  <a:cs typeface="Calibri"/>
                  <a:sym typeface="Calibri"/>
                </a:rPr>
                <a:t>Slide 15</a:t>
              </a:r>
              <a:endParaRPr sz="11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3" name="Google Shape;523;p15"/>
          <p:cNvGrpSpPr/>
          <p:nvPr/>
        </p:nvGrpSpPr>
        <p:grpSpPr>
          <a:xfrm>
            <a:off x="762000" y="1143000"/>
            <a:ext cx="7620000" cy="2857500"/>
            <a:chOff x="762000" y="1143000"/>
            <a:chExt cx="7620000" cy="2857500"/>
          </a:xfrm>
        </p:grpSpPr>
        <p:sp>
          <p:nvSpPr>
            <p:cNvPr id="524" name="Google Shape;524;p15"/>
            <p:cNvSpPr/>
            <p:nvPr/>
          </p:nvSpPr>
          <p:spPr>
            <a:xfrm>
              <a:off x="762000" y="1143000"/>
              <a:ext cx="7620000" cy="2857500"/>
            </a:xfrm>
            <a:prstGeom prst="roundRect">
              <a:avLst>
                <a:gd fmla="val 4000" name="adj"/>
              </a:avLst>
            </a:prstGeom>
            <a:solidFill>
              <a:srgbClr val="161B22"/>
            </a:solidFill>
            <a:ln cap="flat" cmpd="sng" w="19050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15"/>
            <p:cNvSpPr txBox="1"/>
            <p:nvPr/>
          </p:nvSpPr>
          <p:spPr>
            <a:xfrm>
              <a:off x="1143000" y="1333500"/>
              <a:ext cx="6858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6400">
                  <a:solidFill>
                    <a:srgbClr val="F0F6FC"/>
                  </a:solidFill>
                  <a:latin typeface="Calibri"/>
                  <a:ea typeface="Calibri"/>
                  <a:cs typeface="Calibri"/>
                  <a:sym typeface="Calibri"/>
                </a:rPr>
                <a:t>Questions?</a:t>
              </a:r>
              <a:endParaRPr b="1" sz="6400">
                <a:solidFill>
                  <a:srgbClr val="F0F6F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15"/>
            <p:cNvSpPr txBox="1"/>
            <p:nvPr/>
          </p:nvSpPr>
          <p:spPr>
            <a:xfrm>
              <a:off x="1143000" y="2857500"/>
              <a:ext cx="6858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3FB950"/>
                  </a:solidFill>
                  <a:latin typeface="Calibri"/>
                  <a:ea typeface="Calibri"/>
                  <a:cs typeface="Calibri"/>
                  <a:sym typeface="Calibri"/>
                </a:rPr>
                <a:t>Thank you for your attention</a:t>
              </a:r>
              <a:endParaRPr b="0" sz="1800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15"/>
          <p:cNvGrpSpPr/>
          <p:nvPr/>
        </p:nvGrpSpPr>
        <p:grpSpPr>
          <a:xfrm>
            <a:off x="457200" y="2095500"/>
            <a:ext cx="8229600" cy="1428900"/>
            <a:chOff x="457200" y="2095500"/>
            <a:chExt cx="8229600" cy="1428900"/>
          </a:xfrm>
        </p:grpSpPr>
        <p:sp>
          <p:nvSpPr>
            <p:cNvPr id="528" name="Google Shape;528;p15"/>
            <p:cNvSpPr txBox="1"/>
            <p:nvPr/>
          </p:nvSpPr>
          <p:spPr>
            <a:xfrm>
              <a:off x="457200" y="2095500"/>
              <a:ext cx="95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300">
                  <a:solidFill>
                    <a:srgbClr val="30363D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sz="9300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15"/>
            <p:cNvSpPr txBox="1"/>
            <p:nvPr/>
          </p:nvSpPr>
          <p:spPr>
            <a:xfrm>
              <a:off x="7734300" y="2095500"/>
              <a:ext cx="952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300">
                  <a:solidFill>
                    <a:srgbClr val="30363D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1" sz="9300">
                <a:solidFill>
                  <a:srgbClr val="3036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0" name="Google Shape;530;p15"/>
          <p:cNvSpPr txBox="1"/>
          <p:nvPr/>
        </p:nvSpPr>
        <p:spPr>
          <a:xfrm>
            <a:off x="8046720" y="489204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sz="900">
              <a:solidFill>
                <a:srgbClr val="8B94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2026-04-13T07:33:24Z</dcterms:created>
  <dc:creator>PptxGenJS</dc:creator>
</cp:coreProperties>
</file>